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FC4C3-5E56-C1C9-90C6-E3BA59401002}" v="40" dt="2026-02-08T15:45:14.002"/>
    <p1510:client id="{7175D185-5582-C838-158E-F40AF3EFDFDF}" v="443" dt="2026-02-08T17:44:58.501"/>
    <p1510:client id="{B2FCC2BE-ED22-0905-7CBD-3EEB3D26CC3D}" v="310" dt="2026-02-08T17:46:34.690"/>
    <p1510:client id="{CDEC8031-ECD1-E857-3646-F153D74FE3ED}" v="217" dt="2026-02-08T12:11:48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hyperlink" Target="https://github.com/Ruthwika-Vemulapalli/DeepTech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10438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81145" y="1722316"/>
            <a:ext cx="11039050" cy="1342182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552209" y="3704489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684944" y="4180301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684944" y="5008481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81756" y="5008481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62108" y="3884862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57726" y="3846869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771754" y="4828788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67371" y="4799527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8"/>
          <a:srcRect l="-2994" r="-2994"/>
          <a:stretch/>
        </p:blipFill>
        <p:spPr>
          <a:xfrm>
            <a:off x="6538643" y="4799851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863197" y="4799527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err="1">
                <a:solidFill>
                  <a:srgbClr val="FFFFFF">
                    <a:alpha val="70000"/>
                  </a:srgbClr>
                </a:solidFill>
                <a:latin typeface="Poppins"/>
                <a:cs typeface="Poppins"/>
              </a:rPr>
              <a:t>SiliconX</a:t>
            </a:r>
            <a:r>
              <a:rPr lang="en-US" sz="1000">
                <a:solidFill>
                  <a:srgbClr val="FFFFFF">
                    <a:alpha val="70000"/>
                  </a:srgbClr>
                </a:solidFill>
                <a:latin typeface="Poppins"/>
                <a:cs typeface="Poppins"/>
              </a:rPr>
              <a:t> Edge</a:t>
            </a:r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201593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E0E0E0">
                    <a:alpha val="50000"/>
                  </a:srgbClr>
                </a:solidFill>
                <a:latin typeface="Poppins"/>
                <a:cs typeface="Poppins"/>
              </a:rPr>
              <a:t>Ruthwika Vemulapalli </a:t>
            </a:r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E0E0E0">
                    <a:alpha val="50000"/>
                  </a:srgbClr>
                </a:solidFill>
                <a:latin typeface="Poppins"/>
                <a:cs typeface="Poppins"/>
              </a:rPr>
              <a:t>IV</a:t>
            </a:r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18326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E0E0E0">
                    <a:alpha val="50000"/>
                  </a:srgbClr>
                </a:solidFill>
                <a:latin typeface="Poppins"/>
                <a:cs typeface="Poppins"/>
              </a:rPr>
              <a:t>Ankitha </a:t>
            </a:r>
            <a:r>
              <a:rPr lang="en-US" sz="1100" i="1" err="1">
                <a:solidFill>
                  <a:srgbClr val="E0E0E0">
                    <a:alpha val="50000"/>
                  </a:srgbClr>
                </a:solidFill>
                <a:latin typeface="Poppins"/>
                <a:cs typeface="Poppins"/>
              </a:rPr>
              <a:t>Kontemukkula</a:t>
            </a:r>
            <a:r>
              <a:rPr lang="en-US" sz="1100" i="1">
                <a:solidFill>
                  <a:srgbClr val="E0E0E0">
                    <a:alpha val="50000"/>
                  </a:srgbClr>
                </a:solidFill>
                <a:latin typeface="Poppins"/>
                <a:cs typeface="Poppins"/>
              </a:rPr>
              <a:t> </a:t>
            </a:r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E0E0E0">
                    <a:alpha val="50000"/>
                  </a:srgbClr>
                </a:solidFill>
                <a:latin typeface="Poppins"/>
                <a:cs typeface="Poppins"/>
              </a:rPr>
              <a:t>IV</a:t>
            </a:r>
          </a:p>
        </p:txBody>
      </p:sp>
      <p:sp>
        <p:nvSpPr>
          <p:cNvPr id="63" name="Text 54"/>
          <p:cNvSpPr txBox="1"/>
          <p:nvPr/>
        </p:nvSpPr>
        <p:spPr>
          <a:xfrm>
            <a:off x="827088" y="4294189"/>
            <a:ext cx="7709702" cy="20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FFFFFF">
                    <a:alpha val="50000"/>
                  </a:srgbClr>
                </a:solidFill>
                <a:latin typeface="Poppins"/>
                <a:cs typeface="Poppins"/>
              </a:rPr>
              <a:t>G. Narayanamma Institute of Technology and Science, for Women,  </a:t>
            </a:r>
            <a:r>
              <a:rPr lang="en-US" sz="1200" err="1">
                <a:solidFill>
                  <a:srgbClr val="FFFFFF">
                    <a:alpha val="50000"/>
                  </a:srgbClr>
                </a:solidFill>
                <a:latin typeface="Poppins"/>
                <a:cs typeface="Poppins"/>
              </a:rPr>
              <a:t>Shaikpet</a:t>
            </a:r>
            <a:r>
              <a:rPr lang="en-US" sz="1200">
                <a:solidFill>
                  <a:srgbClr val="FFFFFF">
                    <a:alpha val="50000"/>
                  </a:srgbClr>
                </a:solidFill>
                <a:latin typeface="Poppins"/>
                <a:cs typeface="Poppins"/>
              </a:rPr>
              <a:t> , Hyderabad. </a:t>
            </a:r>
          </a:p>
        </p:txBody>
      </p:sp>
      <p:sp>
        <p:nvSpPr>
          <p:cNvPr id="64" name="Text 55"/>
          <p:cNvSpPr txBox="1"/>
          <p:nvPr/>
        </p:nvSpPr>
        <p:spPr>
          <a:xfrm>
            <a:off x="875316" y="5122369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FFFFFF">
                    <a:alpha val="50000"/>
                  </a:srgbClr>
                </a:solidFill>
                <a:latin typeface="Poppins"/>
                <a:ea typeface="Poppins" pitchFamily="34" charset="-122"/>
                <a:cs typeface="Poppins"/>
              </a:rPr>
              <a:t>+91 9398563892</a:t>
            </a:r>
            <a:endParaRPr lang="en-US" sz="1200"/>
          </a:p>
        </p:txBody>
      </p:sp>
      <p:sp>
        <p:nvSpPr>
          <p:cNvPr id="65" name="Text 56"/>
          <p:cNvSpPr txBox="1"/>
          <p:nvPr/>
        </p:nvSpPr>
        <p:spPr>
          <a:xfrm>
            <a:off x="6373044" y="5122370"/>
            <a:ext cx="36804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FFFFFF">
                    <a:alpha val="50000"/>
                  </a:srgbClr>
                </a:solidFill>
                <a:latin typeface="Poppins"/>
                <a:cs typeface="Poppins"/>
              </a:rPr>
              <a:t>ruthwikavemulapalli@gmail.com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/>
                <a:ea typeface="Poppins" pitchFamily="34" charset="-122"/>
                <a:cs typeface="Poppins"/>
              </a:rPr>
              <a:t>Problem Statement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23949" y="2494585"/>
            <a:ext cx="812792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AEFF82">
                    <a:alpha val="80000"/>
                  </a:srgbClr>
                </a:solidFill>
                <a:ea typeface="+mn-lt"/>
                <a:cs typeface="+mn-lt"/>
              </a:rPr>
              <a:t>Edge AI–Based Defect Classification System for Semiconductor Wafer/Die Images</a:t>
            </a:r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961949" y="3054774"/>
            <a:ext cx="10267798" cy="3090787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255036" y="3167263"/>
            <a:ext cx="9839290" cy="2537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/>
              <a:buChar char="•"/>
            </a:pPr>
            <a:r>
              <a:rPr lang="en-US" sz="160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Semiconductor manufacturing generates massive volumes of high-resolution inspection images, where microscopic defects can severely impact device performance, yield, and reliability.</a:t>
            </a:r>
            <a:endParaRPr lang="en-US" sz="1600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60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Traditional centralized and manual inspection systems suffer from high latency, bandwidth limitations, high infrastructure costs, and limited scalability for real-time production environments.</a:t>
            </a:r>
            <a:endParaRPr lang="en-US" sz="1600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60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The increasing complexity and miniaturization of semiconductor devices demand faster, more accurate, and automated defect detection methods to maintain manufacturing quality.</a:t>
            </a:r>
            <a:endParaRPr lang="en-US" sz="1600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60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Edge AI–based defect classification enables real-time, low-latency, and cost-efficient inspection by performing intelligent analysis directly at the source, supporting Industry 4.0 and smart factory initiatives.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pPr marL="0" indent="0" algn="l">
              <a:buNone/>
            </a:pPr>
            <a:endParaRPr lang="en-US" sz="1300" i="1">
              <a:solidFill>
                <a:srgbClr val="FFFFFF">
                  <a:alpha val="70000"/>
                </a:srgbClr>
              </a:solidFill>
              <a:latin typeface="Poppins"/>
              <a:cs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759335" y="949341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/>
                <a:ea typeface="Poppins" pitchFamily="34" charset="-122"/>
                <a:cs typeface="Poppins"/>
              </a:rPr>
              <a:t>Idea Description </a:t>
            </a:r>
            <a:endParaRPr lang="en-US" sz="2800" b="1" dirty="0">
              <a:solidFill>
                <a:schemeClr val="tx2"/>
              </a:solidFill>
              <a:latin typeface="Poppins"/>
              <a:cs typeface="Poppins"/>
            </a:endParaRPr>
          </a:p>
        </p:txBody>
      </p:sp>
      <p:sp>
        <p:nvSpPr>
          <p:cNvPr id="9" name="Shape 4"/>
          <p:cNvSpPr/>
          <p:nvPr/>
        </p:nvSpPr>
        <p:spPr>
          <a:xfrm>
            <a:off x="472539" y="1418075"/>
            <a:ext cx="11276304" cy="5324694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1"/>
          <p:cNvSpPr/>
          <p:nvPr/>
        </p:nvSpPr>
        <p:spPr>
          <a:xfrm>
            <a:off x="764027" y="1537344"/>
            <a:ext cx="10406343" cy="2488470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US" dirty="0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The core idea is to develop an </a:t>
            </a:r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Edge AI–based automated defect classification system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 that analyzes semiconductor wafer and die inspection images directly at the source using lightweight deep learning models.</a:t>
            </a:r>
            <a:endParaRPr lang="en-US" sz="16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The solution leverages </a:t>
            </a:r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transfer learning with ResNet50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 to accurately identify manufacturing defects such as Bridge, CMP Scratch, LER, Opens, and Via Cracks from grayscale SEM/AOI images.</a:t>
            </a:r>
            <a:endParaRPr lang="en-US" sz="16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By converting the trained model into </a:t>
            </a:r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ONNX format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, the system is designed for seamless deployment on edge platforms using NXP </a:t>
            </a:r>
            <a:r>
              <a:rPr lang="en-US" sz="1600" err="1">
                <a:solidFill>
                  <a:schemeClr val="bg1"/>
                </a:solidFill>
                <a:ea typeface="+mn-lt"/>
                <a:cs typeface="+mn-lt"/>
              </a:rPr>
              <a:t>eIQ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, enabling real-time, low-latency inspection.</a:t>
            </a:r>
            <a:endParaRPr lang="en-US" sz="16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The fundamental approach focuses on balancing </a:t>
            </a:r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high accuracy, low computational cost, and portability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 to meet real fabrication line constraints.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pPr algn="just"/>
            <a:endParaRPr lang="en-US" dirty="0">
              <a:ea typeface="Calibri"/>
              <a:cs typeface="Calibri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764027" y="4158727"/>
            <a:ext cx="10406342" cy="2577534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 lIns="91440" tIns="45720" rIns="91440" bIns="45720" anchor="t"/>
          <a:lstStyle/>
          <a:p>
            <a:pPr algn="just"/>
            <a:endParaRPr lang="en-IN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IN" sz="1600" dirty="0">
                <a:solidFill>
                  <a:schemeClr val="bg1"/>
                </a:solidFill>
                <a:ea typeface="+mn-lt"/>
                <a:cs typeface="+mn-lt"/>
              </a:rPr>
              <a:t>The proposed system processes wafer/die images locally on edge devices, eliminating dependence on cloud-based analysis and reducing network and infrastructure overhead.</a:t>
            </a:r>
            <a:endParaRPr lang="en-IN" sz="16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IN" sz="1600" dirty="0">
                <a:solidFill>
                  <a:schemeClr val="bg1"/>
                </a:solidFill>
                <a:ea typeface="+mn-lt"/>
                <a:cs typeface="+mn-lt"/>
              </a:rPr>
              <a:t>A well-balanced dataset of 750 labelled images (clean and defective) is used to train and validate the model, ensuring reliable generalization across defect types.</a:t>
            </a:r>
            <a:endParaRPr lang="en-IN" sz="16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IN" sz="1600" dirty="0">
                <a:solidFill>
                  <a:schemeClr val="bg1"/>
                </a:solidFill>
                <a:ea typeface="+mn-lt"/>
                <a:cs typeface="+mn-lt"/>
              </a:rPr>
              <a:t>The trained ResNet50 model achieves strong validation accuracy (~89% in Phase-1) and produces interpretable results through confusion matrix analysis.</a:t>
            </a:r>
            <a:endParaRPr lang="en-IN" sz="16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IN" sz="1600" dirty="0">
                <a:solidFill>
                  <a:schemeClr val="bg1"/>
                </a:solidFill>
                <a:ea typeface="+mn-lt"/>
                <a:cs typeface="+mn-lt"/>
              </a:rPr>
              <a:t>The ONNX-exported model enables direct integration into edge deployment pipelines, supporting high-volume, real-time inspection workflows and improving yield, quality control, and operational efficiency.</a:t>
            </a:r>
            <a:endParaRPr lang="en-IN" sz="1600" dirty="0">
              <a:solidFill>
                <a:schemeClr val="bg1"/>
              </a:solidFill>
              <a:ea typeface="Calibri"/>
              <a:cs typeface="Calibri"/>
            </a:endParaRPr>
          </a:p>
          <a:p>
            <a:pPr algn="just"/>
            <a:endParaRPr lang="en-IN" sz="1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1013760" y="4260019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9115A7D9-4E76-3216-9074-827F462885BB}"/>
              </a:ext>
            </a:extLst>
          </p:cNvPr>
          <p:cNvSpPr txBox="1"/>
          <p:nvPr/>
        </p:nvSpPr>
        <p:spPr>
          <a:xfrm>
            <a:off x="1013760" y="1657344"/>
            <a:ext cx="3200728" cy="111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9CA3AF"/>
                </a:solidFill>
                <a:latin typeface="Poppins"/>
                <a:cs typeface="Poppins"/>
              </a:rPr>
              <a:t>IDEA SUMMARY AND CORE CONCEPT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066000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759336" y="106809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/>
                <a:ea typeface="Poppins" pitchFamily="34" charset="-122"/>
                <a:cs typeface="Poppins"/>
              </a:rPr>
              <a:t>Proposed Solution </a:t>
            </a:r>
            <a:endParaRPr lang="en-US" sz="2400" b="1" dirty="0">
              <a:solidFill>
                <a:schemeClr val="tx2"/>
              </a:solidFill>
              <a:latin typeface="Poppins"/>
              <a:cs typeface="Poppins"/>
            </a:endParaRPr>
          </a:p>
        </p:txBody>
      </p:sp>
      <p:sp>
        <p:nvSpPr>
          <p:cNvPr id="9" name="Shape 4"/>
          <p:cNvSpPr/>
          <p:nvPr/>
        </p:nvSpPr>
        <p:spPr>
          <a:xfrm>
            <a:off x="482435" y="1536829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61599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340935" y="15368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 txBox="1"/>
          <p:nvPr/>
        </p:nvSpPr>
        <p:spPr>
          <a:xfrm>
            <a:off x="878443" y="1731716"/>
            <a:ext cx="10183138" cy="99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AEFF82">
                    <a:alpha val="80000"/>
                  </a:srgbClr>
                </a:solidFill>
                <a:latin typeface="Poppins"/>
                <a:cs typeface="Poppins"/>
              </a:rPr>
              <a:t>The model clearly identifies and labels the given images according to the defect the model detects based on our model which leverages pre-trained features from ImageNet</a:t>
            </a:r>
            <a:endParaRPr lang="en-US" sz="1100">
              <a:solidFill>
                <a:srgbClr val="E4E4E4"/>
              </a:solidFill>
              <a:highlight>
                <a:srgbClr val="181818"/>
              </a:highlight>
              <a:latin typeface="Consolas"/>
              <a:cs typeface="Poppins"/>
            </a:endParaRPr>
          </a:p>
          <a:p>
            <a:endParaRPr lang="en-US" sz="1800">
              <a:solidFill>
                <a:srgbClr val="AEFF82">
                  <a:alpha val="80000"/>
                </a:srgbClr>
              </a:solidFill>
              <a:latin typeface="Poppins"/>
              <a:cs typeface="Poppins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481785" y="2458172"/>
            <a:ext cx="10309551" cy="3327841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190168" y="2895166"/>
            <a:ext cx="8944591" cy="2342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Core Libraries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Deep Learning Framework: </a:t>
            </a:r>
            <a:r>
              <a:rPr lang="en-US" sz="1600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PyTorch</a:t>
            </a:r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, TensorFlow/</a:t>
            </a:r>
            <a:r>
              <a:rPr lang="en-US" sz="1600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Keras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Computer Vision: OpenCV, PIL/Pillow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Data Processing: NumPy, Pandas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Visualization: Matplotlib, Seaborn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ML Utilities: Scikit-learn</a:t>
            </a:r>
            <a:endParaRPr lang="en-US" sz="1600" dirty="0">
              <a:ea typeface="Calibri"/>
              <a:cs typeface="Calibri"/>
            </a:endParaRPr>
          </a:p>
          <a:p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Development Tools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Version Control: Git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Environment: Conda or </a:t>
            </a:r>
            <a:r>
              <a:rPr lang="en-US" sz="1600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venv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Notebooks: </a:t>
            </a:r>
            <a:r>
              <a:rPr lang="en-US" sz="1600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Jupyter</a:t>
            </a:r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 Notebook/Lab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Experiment Tracking: </a:t>
            </a:r>
            <a:r>
              <a:rPr lang="en-US" sz="1600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TensorBoard</a:t>
            </a:r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, Weights &amp; Biases, </a:t>
            </a:r>
            <a:r>
              <a:rPr lang="en-US" sz="1600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MLflow</a:t>
            </a:r>
            <a:endParaRPr lang="en-US" sz="16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1"/>
          <p:cNvSpPr/>
          <p:nvPr/>
        </p:nvSpPr>
        <p:spPr>
          <a:xfrm>
            <a:off x="843195" y="2625933"/>
            <a:ext cx="4990368" cy="2850178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962152" y="2316951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/>
          </a:p>
        </p:txBody>
      </p:sp>
      <p:sp>
        <p:nvSpPr>
          <p:cNvPr id="19" name="Text 13"/>
          <p:cNvSpPr txBox="1"/>
          <p:nvPr/>
        </p:nvSpPr>
        <p:spPr>
          <a:xfrm>
            <a:off x="965812" y="3563672"/>
            <a:ext cx="4471107" cy="147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/>
              <a:buChar char="•"/>
            </a:pPr>
            <a:r>
              <a:rPr lang="en-US" sz="1600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Edge-first design, not cloud-dependent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Accuracy–efficiency balance for real fab constraints, </a:t>
            </a:r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bridging the gap between high accuracy and lightweight deployment.</a:t>
            </a:r>
            <a:endParaRPr lang="en-US" sz="1600" b="1" dirty="0">
              <a:solidFill>
                <a:srgbClr val="FFFFFF">
                  <a:alpha val="70000"/>
                </a:srgbClr>
              </a:soli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600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Defect-aware class design inspired by manufacturing reality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600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Deployment-ready pipeline, not just a research model, </a:t>
            </a:r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aligning with real-world industrial deployment and scalability requirements.</a:t>
            </a:r>
            <a:br>
              <a:rPr lang="en-US" sz="1600" b="1" dirty="0">
                <a:ea typeface="+mn-lt"/>
                <a:cs typeface="+mn-lt"/>
              </a:rPr>
            </a:br>
            <a:br>
              <a:rPr lang="en-US" sz="1600" b="1" dirty="0">
                <a:ea typeface="+mn-lt"/>
                <a:cs typeface="+mn-lt"/>
              </a:rPr>
            </a:br>
            <a:br>
              <a:rPr lang="en-US" sz="1600" b="1" dirty="0">
                <a:ea typeface="+mn-lt"/>
                <a:cs typeface="+mn-lt"/>
              </a:rPr>
            </a:br>
            <a:endParaRPr lang="en-US" sz="1600" b="1" dirty="0">
              <a:solidFill>
                <a:srgbClr val="FFFFFF">
                  <a:alpha val="70000"/>
                </a:srgbClr>
              </a:solidFill>
              <a:ea typeface="+mn-lt"/>
              <a:cs typeface="+mn-lt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6095240" y="2625934"/>
            <a:ext cx="4999722" cy="2849635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083549" y="2316951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/>
          </a:p>
        </p:txBody>
      </p:sp>
      <p:sp>
        <p:nvSpPr>
          <p:cNvPr id="22" name="Text 16"/>
          <p:cNvSpPr txBox="1"/>
          <p:nvPr/>
        </p:nvSpPr>
        <p:spPr>
          <a:xfrm>
            <a:off x="6345593" y="3813107"/>
            <a:ext cx="4176528" cy="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/>
              <a:buChar char="•"/>
            </a:pPr>
            <a:r>
              <a:rPr lang="en-US" sz="160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Lower cost &amp; scalable deployment</a:t>
            </a:r>
            <a:br>
              <a:rPr lang="en-US" dirty="0"/>
            </a:br>
            <a:r>
              <a:rPr lang="en-US" sz="160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High performance with lightweight compute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60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Improved usability for manufacturing lines, easily into existing inspection workflows, providing </a:t>
            </a:r>
            <a:r>
              <a:rPr lang="en-US" sz="1600" b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fast, automated, and consistent defect decisions</a:t>
            </a:r>
            <a:r>
              <a:rPr lang="en-US" sz="160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, reducing human error and speeding up yield analysis.</a:t>
            </a:r>
            <a:endParaRPr lang="en-US" sz="16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1"/>
          <p:cNvSpPr/>
          <p:nvPr/>
        </p:nvSpPr>
        <p:spPr>
          <a:xfrm>
            <a:off x="1045456" y="3093908"/>
            <a:ext cx="5020056" cy="1659894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770379" y="2781171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120112" y="2744392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200"/>
          </a:p>
        </p:txBody>
      </p:sp>
      <p:sp>
        <p:nvSpPr>
          <p:cNvPr id="20" name="Text 13"/>
          <p:cNvSpPr txBox="1"/>
          <p:nvPr/>
        </p:nvSpPr>
        <p:spPr>
          <a:xfrm>
            <a:off x="1252799" y="3622360"/>
            <a:ext cx="4653334" cy="48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D1D5DB"/>
                </a:solidFill>
                <a:ea typeface="+mn-lt"/>
                <a:cs typeface="+mn-lt"/>
              </a:rPr>
              <a:t>Reduces inspection latency and cost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D1D5DB"/>
                </a:solidFill>
                <a:ea typeface="+mn-lt"/>
                <a:cs typeface="+mn-lt"/>
              </a:rPr>
              <a:t>Improves yield and manufacturing efficiency</a:t>
            </a:r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D1D5DB"/>
                </a:solidFill>
                <a:ea typeface="+mn-lt"/>
                <a:cs typeface="+mn-lt"/>
              </a:rPr>
              <a:t>Scales to real-time production environments</a:t>
            </a:r>
            <a:br>
              <a:rPr lang="en-US" sz="1600" dirty="0">
                <a:ea typeface="+mn-lt"/>
                <a:cs typeface="+mn-lt"/>
              </a:rPr>
            </a:br>
            <a:r>
              <a:rPr lang="en-US" sz="1600" dirty="0">
                <a:solidFill>
                  <a:srgbClr val="D1D5DB"/>
                </a:solidFill>
                <a:ea typeface="+mn-lt"/>
                <a:cs typeface="+mn-lt"/>
              </a:rPr>
              <a:t>Enhances reliability and autonomy</a:t>
            </a:r>
            <a:endParaRPr lang="en-US" sz="1600" dirty="0">
              <a:ea typeface="+mn-lt"/>
              <a:cs typeface="+mn-lt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6335866" y="3083469"/>
            <a:ext cx="4999180" cy="1670333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6250020" y="2782797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603873" y="2744935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200"/>
          </a:p>
        </p:txBody>
      </p:sp>
      <p:sp>
        <p:nvSpPr>
          <p:cNvPr id="24" name="Text 16"/>
          <p:cNvSpPr txBox="1"/>
          <p:nvPr/>
        </p:nvSpPr>
        <p:spPr>
          <a:xfrm>
            <a:off x="6500541" y="3726744"/>
            <a:ext cx="46399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D1D5DB"/>
                </a:solidFill>
                <a:ea typeface="+mn-lt"/>
                <a:cs typeface="+mn-lt"/>
              </a:rPr>
              <a:t>60–80% reduction in inspection latency</a:t>
            </a:r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D1D5DB"/>
                </a:solidFill>
                <a:ea typeface="+mn-lt"/>
                <a:cs typeface="+mn-lt"/>
              </a:rPr>
              <a:t>&gt;85% defect classification accuracy</a:t>
            </a:r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solidFill>
                  <a:srgbClr val="D1D5DB"/>
                </a:solidFill>
                <a:ea typeface="+mn-lt"/>
                <a:cs typeface="+mn-lt"/>
              </a:rPr>
              <a:t>2× faster decision turnaround</a:t>
            </a:r>
            <a:r>
              <a:rPr lang="en-US" sz="1600" dirty="0">
                <a:solidFill>
                  <a:srgbClr val="D1D5DB"/>
                </a:solidFill>
                <a:ea typeface="+mn-lt"/>
                <a:cs typeface="+mn-lt"/>
              </a:rPr>
              <a:t> compared to manual or semi-automated inspection workflows</a:t>
            </a:r>
            <a:endParaRPr lang="en-US" sz="16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/>
          </a:p>
        </p:txBody>
      </p:sp>
      <p:sp>
        <p:nvSpPr>
          <p:cNvPr id="9" name="Shape 4"/>
          <p:cNvSpPr/>
          <p:nvPr/>
        </p:nvSpPr>
        <p:spPr>
          <a:xfrm>
            <a:off x="947551" y="1879092"/>
            <a:ext cx="10672644" cy="406209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US" sz="1600" b="1" dirty="0">
              <a:solidFill>
                <a:schemeClr val="bg1"/>
              </a:solidFill>
              <a:ea typeface="Calibri"/>
              <a:cs typeface="Calibri"/>
            </a:endParaRPr>
          </a:p>
          <a:p>
            <a:pPr algn="just"/>
            <a:r>
              <a:rPr lang="en-US" sz="1600" b="1" dirty="0">
                <a:solidFill>
                  <a:schemeClr val="bg1"/>
                </a:solidFill>
              </a:rPr>
              <a:t>Technologies &amp; Tools</a:t>
            </a:r>
            <a:endParaRPr lang="en-US" sz="1600" b="1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Python, </a:t>
            </a:r>
            <a:r>
              <a:rPr lang="en-US" sz="1600" err="1">
                <a:solidFill>
                  <a:schemeClr val="bg1"/>
                </a:solidFill>
              </a:rPr>
              <a:t>PyTorch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err="1">
                <a:solidFill>
                  <a:schemeClr val="bg1"/>
                </a:solidFill>
              </a:rPr>
              <a:t>TorchVision</a:t>
            </a:r>
            <a:r>
              <a:rPr lang="en-US" sz="1600" dirty="0">
                <a:solidFill>
                  <a:schemeClr val="bg1"/>
                </a:solidFill>
              </a:rPr>
              <a:t>, ONNX, ONNX Runtime on Linux platform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ResNet50 architecture with NXP </a:t>
            </a:r>
            <a:r>
              <a:rPr lang="en-US" sz="1600" err="1">
                <a:solidFill>
                  <a:schemeClr val="bg1"/>
                </a:solidFill>
              </a:rPr>
              <a:t>eIQ</a:t>
            </a:r>
            <a:r>
              <a:rPr lang="en-US" sz="1600" dirty="0">
                <a:solidFill>
                  <a:schemeClr val="bg1"/>
                </a:solidFill>
              </a:rPr>
              <a:t>-compatible ONNX deployment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 algn="just">
              <a:buFont typeface=""/>
              <a:buChar char="•"/>
            </a:pPr>
            <a:endParaRPr lang="en-US" sz="16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 sz="1600" b="1" dirty="0">
                <a:solidFill>
                  <a:schemeClr val="bg1"/>
                </a:solidFill>
              </a:rPr>
              <a:t>Methodology</a:t>
            </a:r>
            <a:endParaRPr lang="en-US" sz="1600" b="1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Preprocessed and augmented grayscale SEM images and trained using transfer learning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Two-phase training with fine-tuning and evaluation using standard performance metrics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pPr algn="just"/>
            <a:endParaRPr lang="en-US" sz="16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 sz="1600" b="1" dirty="0">
                <a:solidFill>
                  <a:schemeClr val="bg1"/>
                </a:solidFill>
              </a:rPr>
              <a:t>Feasibility Analysis</a:t>
            </a:r>
            <a:endParaRPr lang="en-US" sz="1600" b="1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Lightweight ONNX model enables fast, low-power edge inference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Scalable architecture supports real-time inspection and future expansion</a:t>
            </a:r>
            <a:endParaRPr lang="en-IN" sz="1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/>
                <a:ea typeface="Poppins" pitchFamily="34" charset="-122"/>
                <a:cs typeface="Poppins"/>
              </a:rPr>
              <a:t>GitHub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2625131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/>
          </a:p>
        </p:txBody>
      </p:sp>
      <p:sp>
        <p:nvSpPr>
          <p:cNvPr id="18" name="Shape 12"/>
          <p:cNvSpPr/>
          <p:nvPr/>
        </p:nvSpPr>
        <p:spPr>
          <a:xfrm rot="-10800000" flipV="1">
            <a:off x="2815936" y="3599537"/>
            <a:ext cx="7274531" cy="369220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IN" dirty="0">
                <a:ea typeface="+mn-lt"/>
                <a:cs typeface="+mn-lt"/>
              </a:rPr>
              <a:t>   </a:t>
            </a:r>
            <a:r>
              <a:rPr lang="en-IN" sz="2000" dirty="0">
                <a:ea typeface="+mn-lt"/>
                <a:cs typeface="+mn-lt"/>
              </a:rPr>
              <a:t> </a:t>
            </a:r>
            <a:r>
              <a:rPr lang="en-IN" sz="2000" u="sng" dirty="0">
                <a:solidFill>
                  <a:schemeClr val="bg1"/>
                </a:solidFill>
                <a:ea typeface="+mn-lt"/>
                <a:cs typeface="+mn-lt"/>
              </a:rPr>
              <a:t> </a:t>
            </a:r>
            <a:r>
              <a:rPr lang="en-IN" sz="2000" u="sng" dirty="0">
                <a:solidFill>
                  <a:schemeClr val="bg1"/>
                </a:solidFill>
                <a:ea typeface="+mn-lt"/>
                <a:cs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https://github.com/Ruthwika-Vemulapalli/DeepTech</a:t>
            </a:r>
            <a:endParaRPr lang="en-US" sz="2000">
              <a:solidFill>
                <a:schemeClr val="bg1"/>
              </a:solidFill>
              <a:ea typeface="+mn-lt"/>
              <a:cs typeface="+mn-lt"/>
            </a:endParaRPr>
          </a:p>
          <a:p>
            <a:endParaRPr lang="en-IN" dirty="0">
              <a:ea typeface="+mn-lt"/>
              <a:cs typeface="+mn-lt"/>
            </a:endParaRPr>
          </a:p>
          <a:p>
            <a:endParaRPr lang="en-US" u="sng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2542357" y="3752784"/>
            <a:ext cx="190195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and References</a:t>
            </a:r>
            <a:endParaRPr lang="en-US" sz="260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173529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307" y="229788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28546" y="2173529"/>
            <a:ext cx="3810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&amp; Methodology</a:t>
            </a:r>
            <a:endParaRPr lang="en-US" sz="1500"/>
          </a:p>
        </p:txBody>
      </p:sp>
      <p:sp>
        <p:nvSpPr>
          <p:cNvPr id="18" name="Shape 12"/>
          <p:cNvSpPr/>
          <p:nvPr/>
        </p:nvSpPr>
        <p:spPr>
          <a:xfrm>
            <a:off x="1628546" y="2437071"/>
            <a:ext cx="9601200" cy="1759831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790395" y="2648399"/>
            <a:ext cx="9195668" cy="1505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Semiconductor defects arise from fabrication processes such as lithography, etching, polishing, and thermal stress, and appear as distinct patterns in SEM/AOI images suitable for automated analysis.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Convolutional Neural Networks, especially </a:t>
            </a:r>
            <a:r>
              <a:rPr lang="en-US" sz="1600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ResNet</a:t>
            </a:r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-based models, are effective in learning fine structural features for accurate defect classification using transfer learning and data augmentation.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The trained model is converted to ONNX format for efficient deployment on Edge-AI platforms, enabling real-time inspection with low latency.</a:t>
            </a:r>
            <a:endParaRPr lang="en-US" sz="1600">
              <a:ea typeface="Calibri"/>
              <a:cs typeface="Calibri"/>
            </a:endParaRPr>
          </a:p>
          <a:p>
            <a:pPr marL="0" indent="0" algn="l">
              <a:buNone/>
            </a:pPr>
            <a:endParaRPr lang="en-US" sz="1600" i="1" dirty="0">
              <a:solidFill>
                <a:srgbClr val="FFFFFF">
                  <a:alpha val="70000"/>
                </a:srgbClr>
              </a:solidFill>
              <a:latin typeface="Poppins"/>
              <a:cs typeface="Poppins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961949" y="4155034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57046" y="4279392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28546" y="4283683"/>
            <a:ext cx="2343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1500"/>
          </a:p>
        </p:txBody>
      </p:sp>
      <p:sp>
        <p:nvSpPr>
          <p:cNvPr id="24" name="Shape 17"/>
          <p:cNvSpPr/>
          <p:nvPr/>
        </p:nvSpPr>
        <p:spPr>
          <a:xfrm>
            <a:off x="1628546" y="4764938"/>
            <a:ext cx="9601200" cy="1410005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1790395" y="5232197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 txBox="1"/>
          <p:nvPr/>
        </p:nvSpPr>
        <p:spPr>
          <a:xfrm>
            <a:off x="1790395" y="5372112"/>
            <a:ext cx="7088978" cy="99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>
                    <a:alpha val="80000"/>
                  </a:srgbClr>
                </a:solidFill>
                <a:ea typeface="+mn-lt"/>
                <a:cs typeface="+mn-lt"/>
              </a:rPr>
              <a:t>Kwon et al. (2013), </a:t>
            </a:r>
            <a:r>
              <a:rPr lang="en-US" sz="1600" i="1" dirty="0">
                <a:solidFill>
                  <a:srgbClr val="FFFFFF">
                    <a:alpha val="80000"/>
                  </a:srgbClr>
                </a:solidFill>
                <a:ea typeface="+mn-lt"/>
                <a:cs typeface="+mn-lt"/>
              </a:rPr>
              <a:t>Scratch Formation and Its Mechanism in CMP</a:t>
            </a:r>
            <a:r>
              <a:rPr lang="en-US" sz="1600" dirty="0">
                <a:solidFill>
                  <a:srgbClr val="FFFFFF">
                    <a:alpha val="80000"/>
                  </a:srgbClr>
                </a:solidFill>
                <a:ea typeface="+mn-lt"/>
                <a:cs typeface="+mn-lt"/>
              </a:rPr>
              <a:t>, Friction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1790395" y="5661050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 txBox="1"/>
          <p:nvPr/>
        </p:nvSpPr>
        <p:spPr>
          <a:xfrm>
            <a:off x="1790395" y="5009277"/>
            <a:ext cx="9067019" cy="10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>
                    <a:alpha val="80000"/>
                  </a:srgbClr>
                </a:solidFill>
                <a:ea typeface="+mn-lt"/>
                <a:cs typeface="+mn-lt"/>
              </a:rPr>
              <a:t>Su et al. (2019), </a:t>
            </a:r>
            <a:r>
              <a:rPr lang="en-US" sz="1600" i="1" dirty="0">
                <a:solidFill>
                  <a:srgbClr val="FFFFFF">
                    <a:alpha val="80000"/>
                  </a:srgbClr>
                </a:solidFill>
                <a:ea typeface="+mn-lt"/>
                <a:cs typeface="+mn-lt"/>
              </a:rPr>
              <a:t>Probability Prediction Model for Bridging Defects</a:t>
            </a:r>
            <a:r>
              <a:rPr lang="en-US" sz="1600" dirty="0">
                <a:solidFill>
                  <a:srgbClr val="FFFFFF">
                    <a:alpha val="80000"/>
                  </a:srgbClr>
                </a:solidFill>
                <a:ea typeface="+mn-lt"/>
                <a:cs typeface="+mn-lt"/>
              </a:rPr>
              <a:t>, J. Micro/</a:t>
            </a:r>
            <a:r>
              <a:rPr lang="en-US" sz="1600" err="1">
                <a:solidFill>
                  <a:srgbClr val="FFFFFF">
                    <a:alpha val="80000"/>
                  </a:srgbClr>
                </a:solidFill>
                <a:ea typeface="+mn-lt"/>
                <a:cs typeface="+mn-lt"/>
              </a:rPr>
              <a:t>Nanolith</a:t>
            </a:r>
            <a:r>
              <a:rPr lang="en-US" sz="1600" dirty="0">
                <a:solidFill>
                  <a:srgbClr val="FFFFFF">
                    <a:alpha val="80000"/>
                  </a:srgbClr>
                </a:solidFill>
                <a:ea typeface="+mn-lt"/>
                <a:cs typeface="+mn-lt"/>
              </a:rPr>
              <a:t>. MEMS MOEMS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1790395" y="5783580"/>
            <a:ext cx="8681071" cy="10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err="1">
                <a:solidFill>
                  <a:srgbClr val="FFFFFF">
                    <a:alpha val="80000"/>
                  </a:srgbClr>
                </a:solidFill>
                <a:ea typeface="+mn-lt"/>
                <a:cs typeface="+mn-lt"/>
              </a:rPr>
              <a:t>Danilewsky</a:t>
            </a:r>
            <a:r>
              <a:rPr lang="en-US" sz="1600" dirty="0">
                <a:solidFill>
                  <a:srgbClr val="FFFFFF">
                    <a:alpha val="80000"/>
                  </a:srgbClr>
                </a:solidFill>
                <a:ea typeface="+mn-lt"/>
                <a:cs typeface="+mn-lt"/>
              </a:rPr>
              <a:t> et al. (2013), </a:t>
            </a:r>
            <a:r>
              <a:rPr lang="en-US" sz="1600" i="1" dirty="0">
                <a:solidFill>
                  <a:srgbClr val="FFFFFF">
                    <a:alpha val="80000"/>
                  </a:srgbClr>
                </a:solidFill>
                <a:ea typeface="+mn-lt"/>
                <a:cs typeface="+mn-lt"/>
              </a:rPr>
              <a:t>Crack Propagation in Silicon Wafers</a:t>
            </a:r>
            <a:r>
              <a:rPr lang="en-US" sz="1600" dirty="0">
                <a:solidFill>
                  <a:srgbClr val="FFFFFF">
                    <a:alpha val="80000"/>
                  </a:srgbClr>
                </a:solidFill>
                <a:ea typeface="+mn-lt"/>
                <a:cs typeface="+mn-lt"/>
              </a:rPr>
              <a:t>, J. Appl. Crystallography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revision>253</cp:revision>
  <dcterms:created xsi:type="dcterms:W3CDTF">2026-01-15T05:38:47Z</dcterms:created>
  <dcterms:modified xsi:type="dcterms:W3CDTF">2026-02-08T17:47:00Z</dcterms:modified>
</cp:coreProperties>
</file>